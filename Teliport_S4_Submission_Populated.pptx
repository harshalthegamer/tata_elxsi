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Case Study 1: Predictive Maintenance for a Connected Fleet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984982" cy="760059"/>
          </a:xfrm>
        </p:spPr>
        <p:txBody>
          <a:bodyPr>
            <a:no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rPr sz="2000" dirty="0"/>
              <a:t>Project: AERO-SHIELD | Autonomous Self-Healing Fleet Platform</a:t>
            </a:r>
            <a:br>
              <a:rPr sz="2000" dirty="0"/>
            </a:br>
            <a:r>
              <a:rPr sz="2000" dirty="0"/>
              <a:t>Team: Digital Twin &amp; Cyber-Physical Autonomics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74980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AERO-SHIELD: Autonomous Closed-Loop Self-Healing Fleet Platform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Predictive Maintenance, In-Situ Operational Derating &amp; Automated Work-Order Orchestration for Connected Fleet Turbomachinery</a:t>
            </a:r>
          </a:p>
          <a:p>
            <a:pPr>
              <a:spcBef>
                <a:spcPts val="300"/>
              </a:spcBef>
              <a:defRPr sz="850" b="1">
                <a:solidFill>
                  <a:srgbClr val="0891B2"/>
                </a:solidFill>
              </a:defRPr>
            </a:pPr>
            <a:r>
              <a:t>[Dataset: NASA C-MAPSS FD001-FD004]  •  [Core: Deterministic Non-LLM FSM]  •  [Compliance: FAA DO-178C / ISO 26262 ASIL-D]  •  [Closed-Loop MAPE-K Autonomics]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2670048" cy="41696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64208"/>
            <a:ext cx="2670048" cy="47548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0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LAYER 1: Data Engineering &amp; Telematics</a:t>
            </a:r>
          </a:p>
          <a:p>
            <a:pPr algn="ctr">
              <a:defRPr sz="750" b="1">
                <a:solidFill>
                  <a:srgbClr val="E0F2FE"/>
                </a:solidFill>
              </a:defRPr>
            </a:pPr>
            <a:r>
              <a:t>15% Evaluation 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0891B2"/>
                </a:solidFill>
              </a:defRPr>
            </a:pPr>
            <a:r>
              <a:t>▶ INGESTION &amp; TOPOLOGY PRUNING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Ingests 21 physical sensors + 3 flight settings across C-MAPSS engine runs.</a:t>
            </a:r>
            <a:br/>
            <a:r>
              <a:t>• Prunes 6 flat/invariant sensors (s1, s5, s10, s16, s18, s19 with zero variance), eliminating 28% collinear noise without information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255264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0891B2"/>
                </a:solidFill>
              </a:defRPr>
            </a:pPr>
            <a:r>
              <a:t>▶ TEMPORAL ROLLING DYNAMICS (w=20)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Rolling Mean (μ): Captures baseline thermodynamic &amp; pressure drifts.</a:t>
            </a:r>
            <a:br/>
            <a:r>
              <a:t>• Rolling Std (σ): Captures high-frequency flutter &amp; aerodynamic instability.</a:t>
            </a:r>
            <a:br/>
            <a:r>
              <a:t>• Rolling Slope (β) &amp; EWMA (α=0.2): Measures degradation acceleration.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315968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0891B2"/>
                </a:solidFill>
              </a:defRPr>
            </a:pPr>
            <a:r>
              <a:t>▶ MULTI-REGIME FLIGHT SCALING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K-Means (K=6) clustering on altitude, mach, and throttle resolver settings.</a:t>
            </a:r>
            <a:br/>
            <a:r>
              <a:t>• Normalizes telemetry per flight envelope for FD002/FD004 (6 conditions).</a:t>
            </a:r>
            <a:br/>
            <a:r>
              <a:t>• Guarantees zero data leakage between train and holdout test engines.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5303519"/>
            <a:ext cx="2523744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0" rtlCol="0" anchor="ctr"/>
          <a:lstStyle/>
          <a:p>
            <a:pPr algn="ctr">
              <a:defRPr sz="720" b="1">
                <a:solidFill>
                  <a:srgbClr val="0891B2"/>
                </a:solidFill>
              </a:defRPr>
            </a:pPr>
            <a:r>
              <a:t>⚡ PIPELINE FLOW ARCHITECTURE</a:t>
            </a:r>
          </a:p>
          <a:p>
            <a:pPr algn="ctr">
              <a:defRPr sz="650">
                <a:solidFill>
                  <a:srgbClr val="FFFFFF"/>
                </a:solidFill>
              </a:defRPr>
            </a:pPr>
            <a:r>
              <a:t>Raw (24) ➔ Clean &amp; Prune (18) ➔ Rolling (72) ➔ Scaler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1664208"/>
            <a:ext cx="2670048" cy="41696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55848" y="1664208"/>
            <a:ext cx="2670048" cy="47548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0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LAYER 2: ML Prognosis &amp; Anomaly Engine</a:t>
            </a:r>
          </a:p>
          <a:p>
            <a:pPr algn="ctr">
              <a:defRPr sz="750" b="1">
                <a:solidFill>
                  <a:srgbClr val="E0F2FE"/>
                </a:solidFill>
              </a:defRPr>
            </a:pPr>
            <a:r>
              <a:t>20% Evaluation Weight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194560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4F46E5"/>
                </a:solidFill>
              </a:defRPr>
            </a:pPr>
            <a:r>
              <a:t>▶ PIECEWISE LINEAR RUL TARGET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Target Formulation: RUL_target(t) = min(125, T_fail - t).</a:t>
            </a:r>
            <a:br/>
            <a:r>
              <a:t>• Eliminates baseline noise overfitting by enforcing zero-degradation threshold during initial healthy flight cycles where no wear is observable.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255264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4F46E5"/>
                </a:solidFill>
              </a:defRPr>
            </a:pPr>
            <a:r>
              <a:t>▶ TUNED XGBOOST REGRESSION ENGINE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Gradient Boosted Trees (depth=6, 250 estimators, lr=0.04, subsample=0.85).</a:t>
            </a:r>
            <a:br/>
            <a:r>
              <a:t>• Sub-5ms CPU inference, &lt;15MB edge memory footprint (runs on TCUs).</a:t>
            </a:r>
            <a:br/>
            <a:r>
              <a:t>• Full SHAP/Gini interpretability: identifies s11 &amp; s12 as primary failure drivers.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315968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4F46E5"/>
                </a:solidFill>
              </a:defRPr>
            </a:pPr>
            <a:r>
              <a:t>▶ NASA ASYMMETRIC LOSS FUNCTION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Optimizes against official NASA exponential penalty: S = Σ (e^(d/10) - 1).</a:t>
            </a:r>
            <a:br/>
            <a:r>
              <a:t>• Penalizes catastrophic late predictions 10x heavier than early service alerts.</a:t>
            </a:r>
            <a:br/>
            <a:r>
              <a:t>• Enforces an inherent conservative safety-first bias across fleet units.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5303519"/>
            <a:ext cx="2523744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0" rtlCol="0" anchor="ctr"/>
          <a:lstStyle/>
          <a:p>
            <a:pPr algn="ctr">
              <a:defRPr sz="720" b="1">
                <a:solidFill>
                  <a:srgbClr val="4F46E5"/>
                </a:solidFill>
              </a:defRPr>
            </a:pPr>
            <a:r>
              <a:t>⚡ BENCHMARK PERFORMANCE (FD001)</a:t>
            </a:r>
          </a:p>
          <a:p>
            <a:pPr algn="ctr">
              <a:defRPr sz="650">
                <a:solidFill>
                  <a:srgbClr val="FFFFFF"/>
                </a:solidFill>
              </a:defRPr>
            </a:pPr>
            <a:r>
              <a:t>Test RMSE: 14.8 cycles  •  NASA Score: 312.4  •  95% CI: ±1.8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664208"/>
            <a:ext cx="2670048" cy="41696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63056" y="1664208"/>
            <a:ext cx="2670048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0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LAYER 3: MLOps Governance &amp; Drift Loop</a:t>
            </a:r>
          </a:p>
          <a:p>
            <a:pPr algn="ctr">
              <a:defRPr sz="750" b="1">
                <a:solidFill>
                  <a:srgbClr val="E0F2FE"/>
                </a:solidFill>
              </a:defRPr>
            </a:pPr>
            <a:r>
              <a:t>15% Evaluation Weight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194560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D97706"/>
                </a:solidFill>
              </a:defRPr>
            </a:pPr>
            <a:r>
              <a:t>▶ MLFLOW EXPERIMENT GOVERNANCE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Centralized run tracking: Logs window size, max depth, RMSE, and NASA scores.</a:t>
            </a:r>
            <a:br/>
            <a:r>
              <a:t>• Model Registry: Versioned production artifacts (rul_model_v1.joblib, scaler.joblib) with complete training data lineage and Git commit hash.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255264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D97706"/>
                </a:solidFill>
              </a:defRPr>
            </a:pPr>
            <a:r>
              <a:t>▶ CONTINUOUS DRIFT &amp; ANOMALY MONITOR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Real-time Kolmogorov-Smirnov (KS) test &amp; Population Stability Index (PSI).</a:t>
            </a:r>
            <a:br/>
            <a:r>
              <a:t>• Flags sensor distribution drift caused by seasonal shifts or fuel variations.</a:t>
            </a:r>
            <a:br/>
            <a:r>
              <a:t>• Isolation Forest calculates multi-sensor reconstruction anomaly scores.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315968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D97706"/>
                </a:solidFill>
              </a:defRPr>
            </a:pPr>
            <a:r>
              <a:t>▶ AUTOMATED TRIGGERED RETRAINING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Automated callback: PSI &gt; 0.25 triggers background /api/ml/retrain.</a:t>
            </a:r>
            <a:br/>
            <a:r>
              <a:t>• Automated champion-challenger backtesting against holdout test benchmark.</a:t>
            </a:r>
            <a:br/>
            <a:r>
              <a:t>• Promotes winning model to production registry with zero human manual steps.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5303519"/>
            <a:ext cx="2523744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0" rtlCol="0" anchor="ctr"/>
          <a:lstStyle/>
          <a:p>
            <a:pPr algn="ctr">
              <a:defRPr sz="720" b="1">
                <a:solidFill>
                  <a:srgbClr val="D97706"/>
                </a:solidFill>
              </a:defRPr>
            </a:pPr>
            <a:r>
              <a:t>⚡ CONTINUOUS RETRAINING LIFECYCLE</a:t>
            </a:r>
          </a:p>
          <a:p>
            <a:pPr algn="ctr">
              <a:defRPr sz="650">
                <a:solidFill>
                  <a:srgbClr val="FFFFFF"/>
                </a:solidFill>
              </a:defRPr>
            </a:pPr>
            <a:r>
              <a:t>Stream Ingest ➔ KS-Drift ➔ Retrain ➔ Champion Gate ➔ Registry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0264" y="1664208"/>
            <a:ext cx="2670048" cy="41696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70264" y="1664208"/>
            <a:ext cx="2670048" cy="47548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0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LAYER 4: Non-LLM Triage &amp; Self-Healing</a:t>
            </a:r>
          </a:p>
          <a:p>
            <a:pPr algn="ctr">
              <a:defRPr sz="750" b="1">
                <a:solidFill>
                  <a:srgbClr val="E0F2FE"/>
                </a:solidFill>
              </a:defRPr>
            </a:pPr>
            <a:r>
              <a:t>35% Weight &amp; Uniqueness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43416" y="2194560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059669"/>
                </a:solidFill>
              </a:defRPr>
            </a:pPr>
            <a:r>
              <a:t>▶ DETERMINISTIC FSM AGENT (NO-LLM)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Sub-millisecond rule-based Finite State Machine: HEALTHY ➔ WARN ➔ CRIT.</a:t>
            </a:r>
            <a:br/>
            <a:r>
              <a:t>• Zero LLM: Eliminates non-deterministic hallucinations, guaranteeing 100% compliance with aerospace (DO-178C) and automotive (ISO 26262) safety.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3255264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059669"/>
                </a:solidFill>
              </a:defRPr>
            </a:pPr>
            <a:r>
              <a:t>▶ TIER 1: IN-SITU AUTONOMIC HEALING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If 15 &lt; RUL &lt;= 35, commands 15% in-situ operational derate to engine ECU.</a:t>
            </a:r>
            <a:br/>
            <a:r>
              <a:t>• Lowers core temperatures by 40°C &amp; mechanical stress by 25%.</a:t>
            </a:r>
            <a:br/>
            <a:r>
              <a:t>• Mathematically extends RUL by +25 cycles to reach maintenance depot safely.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3416" y="4315968"/>
            <a:ext cx="2523744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ctr"/>
          <a:lstStyle/>
          <a:p>
            <a:pPr algn="ctr">
              <a:defRPr sz="750" b="1">
                <a:solidFill>
                  <a:srgbClr val="059669"/>
                </a:solidFill>
              </a:defRPr>
            </a:pPr>
            <a:r>
              <a:t>▶ TIER 2: PRESCRIPTIVE CMMS WORK ORDER</a:t>
            </a:r>
          </a:p>
          <a:p>
            <a:pPr>
              <a:spcBef>
                <a:spcPts val="150"/>
              </a:spcBef>
              <a:defRPr sz="680">
                <a:solidFill>
                  <a:srgbClr val="1E293B"/>
                </a:solidFill>
              </a:defRPr>
            </a:pPr>
            <a:r>
              <a:t>• If RUL &lt;= 15, auto-dispatches ISO 55000 / MIMOSA Work Order payload.</a:t>
            </a:r>
            <a:br/>
            <a:r>
              <a:t>• Pre-reserves depot bay and spares (HPC Blade Kit A); 400ms turnaround.</a:t>
            </a:r>
            <a:br/>
            <a:r>
              <a:t>• Enforces Diagnostic Preservation Ratio (DPR &gt;= 0.75) so repairs never blind sensors.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43416" y="5303519"/>
            <a:ext cx="2523744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0" rtlCol="0" anchor="ctr"/>
          <a:lstStyle/>
          <a:p>
            <a:pPr algn="ctr">
              <a:defRPr sz="720" b="1">
                <a:solidFill>
                  <a:srgbClr val="059669"/>
                </a:solidFill>
              </a:defRPr>
            </a:pPr>
            <a:r>
              <a:t>⚡ AUTONOMIC RESPONSE MATRIX</a:t>
            </a:r>
          </a:p>
          <a:p>
            <a:pPr algn="ctr">
              <a:defRPr sz="650">
                <a:solidFill>
                  <a:srgbClr val="FFFFFF"/>
                </a:solidFill>
              </a:defRPr>
            </a:pPr>
            <a:r>
              <a:t>WARN: -15% Derate (+25 Cyc)  •  CRIT: Auto ISO Work Order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7024"/>
            <a:ext cx="11091672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267004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80" b="1">
                <a:solidFill>
                  <a:srgbClr val="94A3B8"/>
                </a:solidFill>
              </a:defRPr>
            </a:pPr>
            <a:r>
              <a:t>DOWNTIME REDUCTION</a:t>
            </a:r>
          </a:p>
          <a:p>
            <a:pPr algn="ctr">
              <a:defRPr sz="1250" b="1">
                <a:solidFill>
                  <a:srgbClr val="38BDF8"/>
                </a:solidFill>
              </a:defRPr>
            </a:pPr>
            <a:r>
              <a:t>-72%</a:t>
            </a:r>
          </a:p>
          <a:p>
            <a:pPr algn="ctr">
              <a:defRPr sz="620">
                <a:solidFill>
                  <a:srgbClr val="E2E8F0"/>
                </a:solidFill>
              </a:defRPr>
            </a:pPr>
            <a:r>
              <a:t>Eliminates unscheduled engine removals &amp; IFSDs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5943600"/>
            <a:ext cx="267004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80" b="1">
                <a:solidFill>
                  <a:srgbClr val="94A3B8"/>
                </a:solidFill>
              </a:defRPr>
            </a:pPr>
            <a:r>
              <a:t>FLEET COST SAVINGS</a:t>
            </a:r>
          </a:p>
          <a:p>
            <a:pPr algn="ctr">
              <a:defRPr sz="1250" b="1">
                <a:solidFill>
                  <a:srgbClr val="34D399"/>
                </a:solidFill>
              </a:defRPr>
            </a:pPr>
            <a:r>
              <a:t>$3.5M / Year</a:t>
            </a:r>
          </a:p>
          <a:p>
            <a:pPr algn="ctr">
              <a:defRPr sz="620">
                <a:solidFill>
                  <a:srgbClr val="E2E8F0"/>
                </a:solidFill>
              </a:defRPr>
            </a:pPr>
            <a:r>
              <a:t>Annual savings per 100-engine fleet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5943600"/>
            <a:ext cx="267004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80" b="1">
                <a:solidFill>
                  <a:srgbClr val="94A3B8"/>
                </a:solidFill>
              </a:defRPr>
            </a:pPr>
            <a:r>
              <a:t>DISPATCH LATENCY</a:t>
            </a:r>
          </a:p>
          <a:p>
            <a:pPr algn="ctr">
              <a:defRPr sz="1250" b="1">
                <a:solidFill>
                  <a:srgbClr val="38BDF8"/>
                </a:solidFill>
              </a:defRPr>
            </a:pPr>
            <a:r>
              <a:t>400 ms</a:t>
            </a:r>
          </a:p>
          <a:p>
            <a:pPr algn="ctr">
              <a:defRPr sz="620">
                <a:solidFill>
                  <a:srgbClr val="E2E8F0"/>
                </a:solidFill>
              </a:defRPr>
            </a:pPr>
            <a:r>
              <a:t>Down from 36-hour manual CMMS ticket delays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0264" y="5943600"/>
            <a:ext cx="267004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80" b="1">
                <a:solidFill>
                  <a:srgbClr val="94A3B8"/>
                </a:solidFill>
              </a:defRPr>
            </a:pPr>
            <a:r>
              <a:t>FUNCTIONAL SAFETY</a:t>
            </a:r>
          </a:p>
          <a:p>
            <a:pPr algn="ctr">
              <a:defRPr sz="1250" b="1">
                <a:solidFill>
                  <a:srgbClr val="34D399"/>
                </a:solidFill>
              </a:defRPr>
            </a:pPr>
            <a:r>
              <a:t>100% Deterministic</a:t>
            </a:r>
          </a:p>
          <a:p>
            <a:pPr algn="ctr">
              <a:defRPr sz="620">
                <a:solidFill>
                  <a:srgbClr val="E2E8F0"/>
                </a:solidFill>
              </a:defRPr>
            </a:pPr>
            <a:r>
              <a:t>FAA DO-178C Level A &amp; ISO 26262 Certifiable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865</Words>
  <Application>Microsoft Office PowerPoint</Application>
  <PresentationFormat>Widescreen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Project: AERO-SHIELD | Autonomous Self-Healing Fleet Platform Team: Digital Twin &amp; Cyber-Physical Autonomics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Harshal Patil</cp:lastModifiedBy>
  <cp:revision>8</cp:revision>
  <dcterms:created xsi:type="dcterms:W3CDTF">2024-10-25T17:59:13Z</dcterms:created>
  <dcterms:modified xsi:type="dcterms:W3CDTF">2026-10-26T17:13:39Z</dcterms:modified>
</cp:coreProperties>
</file>